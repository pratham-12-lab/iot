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8" r:id="rId2"/>
    <p:sldId id="279" r:id="rId3"/>
    <p:sldId id="280" r:id="rId4"/>
    <p:sldId id="281" r:id="rId5"/>
    <p:sldId id="287" r:id="rId6"/>
    <p:sldId id="290" r:id="rId7"/>
    <p:sldId id="286" r:id="rId8"/>
    <p:sldId id="283" r:id="rId9"/>
    <p:sldId id="284" r:id="rId10"/>
    <p:sldId id="259" r:id="rId11"/>
    <p:sldId id="295" r:id="rId12"/>
    <p:sldId id="288" r:id="rId13"/>
    <p:sldId id="289" r:id="rId14"/>
    <p:sldId id="285" r:id="rId15"/>
    <p:sldId id="294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446"/>
    <a:srgbClr val="5A7483"/>
    <a:srgbClr val="4B5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14AF5-5B97-66AE-EA57-1E1398D59A08}" v="5" dt="2026-05-12T16:08:00.492"/>
    <p1510:client id="{4DA08228-084F-F531-1507-0A73A725785D}" v="76" dt="2026-05-12T16:41:54.164"/>
    <p1510:client id="{5AF3D91C-8962-23BC-427E-A0F798231028}" v="3" dt="2026-05-12T16:04:34.841"/>
    <p1510:client id="{7D14265D-71F3-42E8-8948-5160686EF27B}" v="99" dt="2026-05-12T16:19:14.037"/>
    <p1510:client id="{B630E23A-B144-4484-3D13-AD6B4E400125}" v="38" dt="2026-05-12T18:35:11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2T16:10:30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39:37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12277 3969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6T14:41:32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11589 2249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EAB68-518D-436D-97B0-0021091FE90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07206-689A-4996-8F31-6131760AA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5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A47C-EF0C-C80A-A7AE-E00963007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24954-3373-7780-884E-B5B75FD4E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839C5-5339-4DFB-8C41-5B325310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365D-68F6-A368-4A6A-AF7C4994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6D925-2E12-BB5B-D73E-4E9DD2D6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68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6AF2-D5E4-8695-C909-FBC6EAB5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6B9C-6038-8113-3EE7-3DA1CBDB8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4394-BF82-71D0-D95C-DD509DE8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BE4F-6109-401C-1C13-4DAF4968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42566-DD3A-984F-EDA1-496BEA82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90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AFE3-B033-BF89-D150-7843FBB7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64F59-2F22-294F-E1CF-0CDEA8B6E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C8D0-7E4E-1B4B-1B76-A0A3CE3CC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2FFF0-8785-11FE-3D67-C979AF65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60844-74D3-463D-EFBD-D8B9F9BB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9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4B0C-BC4A-3777-0529-72419379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6151-51DB-F227-BF8B-C707B3E38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8FC0C-C9F1-7263-0694-6EB80C520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27489-8D8C-E77B-033D-45C3A6D4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B5186-96A4-AE5D-A731-2C4B8772D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42168-7561-DA1D-2EF8-FDCCC77A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6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60EB-9582-AC88-D833-0544271E3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51A51-34A8-D39B-983C-27DD8AC2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559E1-0BB6-15F7-2E27-E9FB23ACE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F56C9-3016-42E8-EBB8-0FC584DC3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B1EDF-1B44-48D3-DC1D-254668737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6F09EF-D9EB-921E-866D-8A33E101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0CBF3-C129-1F4C-D16C-1B6707C9F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0C01F-DDAB-8AA9-CD70-47A9E8B2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91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6286-F08E-40B0-6EB3-C3841706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C643A-3281-DE02-331D-0C3D336F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1F0B9-1E6C-A433-E052-1A5DCF2A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BFB44-2A32-9971-C5FB-E5BC89F1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61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E2FEA-1730-592C-61C4-3710B643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C3F1B-880D-6EEF-260E-D2F15E0C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D2DEB-5505-C60B-EA0F-DD3532C6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6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EB3C-A74B-61BE-BC2D-0A430214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FDC0-FC35-B3F6-C0D9-5AE14B29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C8C8F-225D-DEFA-1115-F31C0FC5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047FA-D5C1-EA36-C6FB-6DE6854B6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27F9C-82E5-760D-4E43-4A053697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E486C-197F-32E8-91F7-C969AD0C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1A36-19D6-12D5-98F1-1EF238DA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E1E32-7B33-0714-7FE1-F20A1C0C6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C90EA-102C-C7A2-A3D0-1F24DE25B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41E17-0D44-051F-1579-C57E23EB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9D1DE-1D11-304C-71E5-2CBED5B6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93846-972E-9488-9DBF-B97113EE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30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A035-33AA-D24D-6D28-CF6159FD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C40D8-F5FF-4E33-3405-A5CD83944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FB52-BB41-616B-8F5B-AED16CB2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3847C-AC1F-8F46-5C5E-9AE3BAE9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BC8E-1C29-87DF-63EF-7F8F95B4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3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D62D4A-A27B-9C90-3915-B38780A1E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4008B-EBE8-B49C-74C2-D68CF44C4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F375-3176-2BC8-0F27-35D32FE2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74B6-6235-583F-93C0-F3FD4D91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5354-2108-E779-65F3-34CF21EA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96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5B0E5-FA98-0681-1FFC-C9994D8F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F26B6-E2F6-289D-3B9C-1E6BD1674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79CD5-075C-D5EA-1C87-6BFE78938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FCE0F-A992-435E-83F6-0701547E96C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6302-7728-A869-74F9-30BE9458E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0CF06-964F-1715-D436-586E9E483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6E4D6-7D91-4742-BC9D-2620DC45A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2.jpeg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customXml" Target="../ink/ink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customXml" Target="../ink/ink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customXml" Target="../ink/ink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B7EFC3-918F-E260-6E19-62C2EB80157D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B7EFC3-918F-E260-6E19-62C2EB8015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EE09B7E-F296-023A-4C74-01C47CB951A8}"/>
              </a:ext>
            </a:extLst>
          </p:cNvPr>
          <p:cNvSpPr txBox="1"/>
          <p:nvPr/>
        </p:nvSpPr>
        <p:spPr>
          <a:xfrm>
            <a:off x="1576278" y="427358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Introduction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9B95E6-688A-ADDA-07B6-42A787CF4E69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9B95E6-688A-ADDA-07B6-42A787CF4E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A1F530F4-57BC-F958-1D69-F8D20129B6E9}"/>
              </a:ext>
            </a:extLst>
          </p:cNvPr>
          <p:cNvSpPr txBox="1"/>
          <p:nvPr/>
        </p:nvSpPr>
        <p:spPr>
          <a:xfrm>
            <a:off x="299770" y="1528142"/>
            <a:ext cx="10864651" cy="4372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 err="1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PrintBridge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 is an IoT-powered cloud printing solution operating on a "Printer as a Service" (PaaS) model.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It transforms traditional, localized printing into a fully automated, self-service ecosystem.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The platform seamlessly integrates cloud storage, secure online payment gateways, and intelligent IoT edge controllers.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It features live data streaming and real-time remote monitoring via the </a:t>
            </a:r>
            <a:r>
              <a:rPr lang="en-US" sz="2400" spc="-8" err="1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ThingSpeak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 IoT analytics platform</a:t>
            </a:r>
            <a:endParaRPr lang="en-US" sz="2400" spc="-8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990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C2C4-3C31-D5EF-0C47-9D2DC485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A0F568-B1E2-D383-3830-DAF722AEDC88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A0F568-B1E2-D383-3830-DAF722AEDC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6DEC4FC-CCE4-1234-DD56-84A2CEC05366}"/>
              </a:ext>
            </a:extLst>
          </p:cNvPr>
          <p:cNvSpPr txBox="1"/>
          <p:nvPr/>
        </p:nvSpPr>
        <p:spPr>
          <a:xfrm>
            <a:off x="1576278" y="427358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Objectives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5F85EE-D003-88C5-71CC-A10D6E68E3F0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5F85EE-D003-88C5-71CC-A10D6E68E3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7F202A3A-9E91-4DB9-EDD1-ED825344A309}"/>
              </a:ext>
            </a:extLst>
          </p:cNvPr>
          <p:cNvSpPr txBox="1"/>
          <p:nvPr/>
        </p:nvSpPr>
        <p:spPr>
          <a:xfrm>
            <a:off x="299770" y="1528142"/>
            <a:ext cx="10864651" cy="3818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To develop a cloud-based printing system accessible from any internet-enabled device.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To implement true IoT-based autonomous payment verification using an Arduino Uno R4 </a:t>
            </a:r>
            <a:r>
              <a:rPr lang="en-US" sz="2400" spc="-8" err="1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WiFi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To eliminate document mixing in the output tray using sequential ticket numbers and a progressive hardware timeout system.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To provide real-time cloud analytics and remote monitoring capabilities for administrators</a:t>
            </a:r>
            <a:endParaRPr lang="en-US" sz="2400" spc="-8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817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600-CBA3-AEAE-D37E-254C733B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E72CC2-11F4-6C58-6B05-AE5524933D41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E72CC2-11F4-6C58-6B05-AE5524933D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486E590-1740-C6B0-5B37-D97D3DB7D655}"/>
              </a:ext>
            </a:extLst>
          </p:cNvPr>
          <p:cNvSpPr txBox="1"/>
          <p:nvPr/>
        </p:nvSpPr>
        <p:spPr>
          <a:xfrm>
            <a:off x="1576278" y="427358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Problem Statement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C9522F-97B6-3CD1-8F32-0E9E391C082F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C9522F-97B6-3CD1-8F32-0E9E391C08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46A8E974-7A72-F818-D7B5-253A0D807448}"/>
              </a:ext>
            </a:extLst>
          </p:cNvPr>
          <p:cNvSpPr txBox="1"/>
          <p:nvPr/>
        </p:nvSpPr>
        <p:spPr>
          <a:xfrm>
            <a:off x="299770" y="1528142"/>
            <a:ext cx="10864651" cy="3818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Severe Congestion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: Physical queues create significant time loss for students and staff in high-traffic educational environments.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Manual Bottlenecks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: Shop owners are forced to manually download files, initiate print commands, and verify cash or UPI screens, leading to severe operational inefficiencies.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Document Confusion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: High-volume output often results in mixed pages in the printer tray, making it difficult for users to identify and collect their specific documents</a:t>
            </a:r>
            <a:endParaRPr lang="en-US" sz="2400" spc="-8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537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C1945-2507-2D68-0E2E-D74C0B15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E2D305-C6C5-0C80-8898-6B921E68BFBE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E2D305-C6C5-0C80-8898-6B921E68BF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86EF9A7-AAA9-0918-B872-390AC54E7357}"/>
              </a:ext>
            </a:extLst>
          </p:cNvPr>
          <p:cNvSpPr txBox="1"/>
          <p:nvPr/>
        </p:nvSpPr>
        <p:spPr>
          <a:xfrm>
            <a:off x="1576278" y="427358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Our Proposed System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36D09E-282B-1D71-7CEB-DC7F3342E09C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36D09E-282B-1D71-7CEB-DC7F3342E0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81ADB0B9-3D7A-F536-D047-ADBCDD116EA2}"/>
              </a:ext>
            </a:extLst>
          </p:cNvPr>
          <p:cNvSpPr txBox="1"/>
          <p:nvPr/>
        </p:nvSpPr>
        <p:spPr>
          <a:xfrm>
            <a:off x="299770" y="1346452"/>
            <a:ext cx="11529557" cy="3818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Remote Upload &amp; Pay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: Users upload their PDFs to a custom web portal and pay securely online from anywhere.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IoT Automation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: An independent Arduino controller polls the cloud server to autonomously verify payments and triggers the local printer without human intervention.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Smart Queueing &amp; Feedback: 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The system assigns sequential ticket numbers and uses visual (RGB LED), audio (Buzzer), and IR proximity sensors to manage a 15-second progressive timeout for paper collection.</a:t>
            </a:r>
            <a:endParaRPr lang="en-US" sz="2400" spc="-8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524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C3AC-8BD6-B4B0-7C52-49A28C78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5AB35A-A8BA-027F-E5A0-D769DF0B906C}"/>
              </a:ext>
            </a:extLst>
          </p:cNvPr>
          <p:cNvSpPr txBox="1"/>
          <p:nvPr/>
        </p:nvSpPr>
        <p:spPr>
          <a:xfrm>
            <a:off x="1696594" y="101776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Our Proposed System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D7AAF1-80B6-39A5-6DCF-3F060A79724C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D7AAF1-80B6-39A5-6DCF-3F060A7972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E588E0B-A259-54BC-0FC9-AABFCB1BC4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49" b="6303"/>
          <a:stretch>
            <a:fillRect/>
          </a:stretch>
        </p:blipFill>
        <p:spPr>
          <a:xfrm>
            <a:off x="288800" y="1512530"/>
            <a:ext cx="11614400" cy="51471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0241E-7D91-ED9E-EE79-89F61D07B95A}"/>
              </a:ext>
            </a:extLst>
          </p:cNvPr>
          <p:cNvSpPr txBox="1"/>
          <p:nvPr/>
        </p:nvSpPr>
        <p:spPr>
          <a:xfrm>
            <a:off x="947956" y="960273"/>
            <a:ext cx="2760890" cy="56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-8" dirty="0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Key Features: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1679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50C0-7587-D7BD-92C8-673FEEAA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55BDF0-4986-EE30-7916-D75DA5B623DF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55BDF0-4986-EE30-7916-D75DA5B623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FBE692-1B73-BC63-8D31-26567DE37F96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FBE692-1B73-BC63-8D31-26567DE37F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34C9B3F-089C-3BF5-0196-B1A771201F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33" r="1372" b="26766"/>
          <a:stretch>
            <a:fillRect/>
          </a:stretch>
        </p:blipFill>
        <p:spPr>
          <a:xfrm>
            <a:off x="607681" y="1749489"/>
            <a:ext cx="11393035" cy="45887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FC0843-FF5A-4570-2AA8-56D62FDC246D}"/>
              </a:ext>
            </a:extLst>
          </p:cNvPr>
          <p:cNvSpPr txBox="1"/>
          <p:nvPr/>
        </p:nvSpPr>
        <p:spPr>
          <a:xfrm>
            <a:off x="1576277" y="76211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Our Proposed System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5C1681-5874-1D79-DFBE-3E247523EDDB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5C1681-5874-1D79-DFBE-3E247523ED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A984A1B-504D-30A3-413E-7AACB052CF64}"/>
              </a:ext>
            </a:extLst>
          </p:cNvPr>
          <p:cNvSpPr txBox="1"/>
          <p:nvPr/>
        </p:nvSpPr>
        <p:spPr>
          <a:xfrm>
            <a:off x="690611" y="1089360"/>
            <a:ext cx="3165267" cy="56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200" b="1" spc="-8" dirty="0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Key Features: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8471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BB04-9C3A-D915-7794-22D8AFEE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BB17A1-925A-FC1F-5087-15088A3E2907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BB17A1-925A-FC1F-5087-15088A3E29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D29D904-7E44-8393-2263-5F073BAF167A}"/>
              </a:ext>
            </a:extLst>
          </p:cNvPr>
          <p:cNvSpPr txBox="1"/>
          <p:nvPr/>
        </p:nvSpPr>
        <p:spPr>
          <a:xfrm>
            <a:off x="1576278" y="427358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Our Proposed System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9A60DF-5BE1-B1A4-DD8A-CE2B85F90FE4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9A60DF-5BE1-B1A4-DD8A-CE2B85F90F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72" y="1208339"/>
            <a:ext cx="10015029" cy="55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68F4-F4BB-CCE7-2342-57A376FB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DECA67-60B1-2A4D-AF39-25BFFE8797CB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DECA67-60B1-2A4D-AF39-25BFFE8797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BD5D0EB-649A-C90B-CA67-3066B4AD3EC1}"/>
              </a:ext>
            </a:extLst>
          </p:cNvPr>
          <p:cNvSpPr txBox="1"/>
          <p:nvPr/>
        </p:nvSpPr>
        <p:spPr>
          <a:xfrm>
            <a:off x="1576278" y="470490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Methodology</a:t>
            </a:r>
            <a:endParaRPr lang="en-US" sz="1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FA20BC-1CB1-3517-8AD5-1610150E10DF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FA20BC-1CB1-3517-8AD5-1610150E10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EDABD4D0-4450-90DB-C400-C5857DF886E8}"/>
              </a:ext>
            </a:extLst>
          </p:cNvPr>
          <p:cNvSpPr txBox="1"/>
          <p:nvPr/>
        </p:nvSpPr>
        <p:spPr>
          <a:xfrm>
            <a:off x="299770" y="1528142"/>
            <a:ext cx="10864651" cy="2149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We utilized a Hybrid IoT Architecture model. This involves a decentralized approach where the sensing/processing (Arduino) and the application (Node.js Printer Agent) run locally, while the storage (</a:t>
            </a:r>
            <a:r>
              <a:rPr lang="en-US" sz="2400" spc="-8" err="1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Cloudinary</a:t>
            </a:r>
            <a:r>
              <a:rPr lang="en-US" sz="2400" spc="-8">
                <a:solidFill>
                  <a:srgbClr val="0D0D0D"/>
                </a:solidFill>
                <a:latin typeface="Times New Roman"/>
                <a:ea typeface="+mn-lt"/>
                <a:cs typeface="+mn-lt"/>
                <a:sym typeface="Times New Roman Bold"/>
              </a:rPr>
              <a:t>) and core logic run on a cloud server (Render). Communication is handled via secure HTTPS polling.</a:t>
            </a:r>
          </a:p>
        </p:txBody>
      </p:sp>
    </p:spTree>
    <p:extLst>
      <p:ext uri="{BB962C8B-B14F-4D97-AF65-F5344CB8AC3E}">
        <p14:creationId xmlns:p14="http://schemas.microsoft.com/office/powerpoint/2010/main" val="276698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00BE-DEFE-D218-701B-041FAE90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38DC44-5615-AAC3-1598-224A6E39ECE0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38DC44-5615-AAC3-1598-224A6E39EC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A1995A8-3F28-7482-791E-85AF8E657E28}"/>
              </a:ext>
            </a:extLst>
          </p:cNvPr>
          <p:cNvSpPr txBox="1"/>
          <p:nvPr/>
        </p:nvSpPr>
        <p:spPr>
          <a:xfrm>
            <a:off x="1576277" y="310103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Methodology</a:t>
            </a:r>
            <a:endParaRPr lang="en-US" sz="12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07" y="1252591"/>
            <a:ext cx="9717400" cy="54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8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92576F-732E-9277-AD88-0D2DD074577B}"/>
              </a:ext>
            </a:extLst>
          </p:cNvPr>
          <p:cNvSpPr txBox="1"/>
          <p:nvPr/>
        </p:nvSpPr>
        <p:spPr>
          <a:xfrm>
            <a:off x="1539987" y="91602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Methodology</a:t>
            </a:r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85C08-7C41-EB53-72AD-33BE4CB7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77" y="1061218"/>
            <a:ext cx="10093066" cy="57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2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2E62-D6D1-7B40-86D0-485D9D6B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63C535-39F4-B4E3-B85A-C8D0638668A6}"/>
              </a:ext>
            </a:extLst>
          </p:cNvPr>
          <p:cNvSpPr txBox="1"/>
          <p:nvPr/>
        </p:nvSpPr>
        <p:spPr>
          <a:xfrm>
            <a:off x="1539987" y="91602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 dirty="0">
                <a:solidFill>
                  <a:srgbClr val="C00000"/>
                </a:solidFill>
                <a:latin typeface="Times New Roman Bold"/>
                <a:cs typeface="Times New Roman Bold"/>
              </a:rPr>
              <a:t>Implemen</a:t>
            </a: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</a:rPr>
              <a:t>tation</a:t>
            </a:r>
            <a:endParaRPr lang="en-US" sz="4000" b="1" spc="-8" dirty="0">
              <a:solidFill>
                <a:srgbClr val="C00000"/>
              </a:solidFill>
              <a:latin typeface="Times New Roman Bold"/>
              <a:cs typeface="Times New Roman Bold"/>
            </a:endParaRPr>
          </a:p>
        </p:txBody>
      </p:sp>
      <p:pic>
        <p:nvPicPr>
          <p:cNvPr id="2" name="Picture 1" descr="A diagram of a circuit board">
            <a:extLst>
              <a:ext uri="{FF2B5EF4-FFF2-40B4-BE49-F238E27FC236}">
                <a16:creationId xmlns:a16="http://schemas.microsoft.com/office/drawing/2014/main" id="{0A87D664-7D33-8A12-8CC7-60E7A8B5C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459" y="918575"/>
            <a:ext cx="8731685" cy="588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5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1105-4654-4EEB-63A7-B36A6DC0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7184C3-77AF-F8FB-AF87-560968F0CA70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7184C3-77AF-F8FB-AF87-560968F0CA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A72475-DD7B-0644-126D-4DBA1E28906B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A72475-DD7B-0644-126D-4DBA1E2890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 descr="Diagram of a cloud computing system&#10;&#10;AI-generated content may be incorrect.">
            <a:extLst>
              <a:ext uri="{FF2B5EF4-FFF2-40B4-BE49-F238E27FC236}">
                <a16:creationId xmlns:a16="http://schemas.microsoft.com/office/drawing/2014/main" id="{010631FD-C4EB-0232-1DB1-29F6F2E259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86" b="153"/>
          <a:stretch>
            <a:fillRect/>
          </a:stretch>
        </p:blipFill>
        <p:spPr>
          <a:xfrm>
            <a:off x="1055332" y="1059840"/>
            <a:ext cx="10109089" cy="56736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2BFA6C-362F-941D-20B9-85C3E190582C}"/>
              </a:ext>
            </a:extLst>
          </p:cNvPr>
          <p:cNvSpPr txBox="1"/>
          <p:nvPr/>
        </p:nvSpPr>
        <p:spPr>
          <a:xfrm>
            <a:off x="1679899" y="320509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Architecture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9766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0F69-8495-43B9-E8C6-1C9457D6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DD886D-C73E-AC00-C9A9-98D7FF64D7FE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DD886D-C73E-AC00-C9A9-98D7FF64D7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CAF6CA-EE5D-D2F4-D2E1-6F9DE6C66663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CAF6CA-EE5D-D2F4-D2E1-6F9DE6C666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AD159C92-B635-49B8-D4C4-A1065C68CD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33" r="-86" b="153"/>
          <a:stretch>
            <a:fillRect/>
          </a:stretch>
        </p:blipFill>
        <p:spPr>
          <a:xfrm>
            <a:off x="659722" y="1281376"/>
            <a:ext cx="11079799" cy="5256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C6645-52DB-2C12-7CF0-FF35001B012A}"/>
              </a:ext>
            </a:extLst>
          </p:cNvPr>
          <p:cNvSpPr txBox="1"/>
          <p:nvPr/>
        </p:nvSpPr>
        <p:spPr>
          <a:xfrm>
            <a:off x="1679899" y="320509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Architectural Comparison</a:t>
            </a:r>
          </a:p>
        </p:txBody>
      </p:sp>
    </p:spTree>
    <p:extLst>
      <p:ext uri="{BB962C8B-B14F-4D97-AF65-F5344CB8AC3E}">
        <p14:creationId xmlns:p14="http://schemas.microsoft.com/office/powerpoint/2010/main" val="16272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D6D5-B0E5-CE34-8C0F-3A566026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912EDE-7E43-F764-98C4-1EFA45E61B41}"/>
                  </a:ext>
                </a:extLst>
              </p14:cNvPr>
              <p14:cNvContentPartPr/>
              <p14:nvPr/>
            </p14:nvContentPartPr>
            <p14:xfrm>
              <a:off x="4654233" y="1741714"/>
              <a:ext cx="73277" cy="1555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912EDE-7E43-F764-98C4-1EFA45E61B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383" y="964164"/>
                <a:ext cx="7327700" cy="1555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3642AD-CEC4-4032-51C2-835A71D2F626}"/>
                  </a:ext>
                </a:extLst>
              </p14:cNvPr>
              <p14:cNvContentPartPr/>
              <p14:nvPr/>
            </p14:nvContentPartPr>
            <p14:xfrm>
              <a:off x="4307633" y="730898"/>
              <a:ext cx="15551" cy="15551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3642AD-CEC4-4032-51C2-835A71D2F6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0083" y="-46652"/>
                <a:ext cx="1555100" cy="15551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diagram of a workflow&#10;&#10;AI-generated content may be incorrect.">
            <a:extLst>
              <a:ext uri="{FF2B5EF4-FFF2-40B4-BE49-F238E27FC236}">
                <a16:creationId xmlns:a16="http://schemas.microsoft.com/office/drawing/2014/main" id="{BAF39B74-4047-AF68-D1DA-017378B21D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897" r="-86" b="154"/>
          <a:stretch>
            <a:fillRect/>
          </a:stretch>
        </p:blipFill>
        <p:spPr>
          <a:xfrm>
            <a:off x="713063" y="1142946"/>
            <a:ext cx="10964411" cy="5547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65E400-203E-C1E6-6BDA-8CC1703F22AB}"/>
              </a:ext>
            </a:extLst>
          </p:cNvPr>
          <p:cNvSpPr txBox="1"/>
          <p:nvPr/>
        </p:nvSpPr>
        <p:spPr>
          <a:xfrm>
            <a:off x="1576277" y="167213"/>
            <a:ext cx="903944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4292662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CC70-9FA1-E240-6E83-05917DA5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992691C-BE82-D03C-281B-1ACC59EB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" t="15663" r="-156"/>
          <a:stretch>
            <a:fillRect/>
          </a:stretch>
        </p:blipFill>
        <p:spPr>
          <a:xfrm>
            <a:off x="471108" y="1260376"/>
            <a:ext cx="11341353" cy="5430411"/>
          </a:xfrm>
          <a:prstGeom prst="rect">
            <a:avLst/>
          </a:prstGeom>
          <a:ln>
            <a:solidFill>
              <a:srgbClr val="5A7483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0391C8-1C5A-656B-D781-E80AEB93652A}"/>
              </a:ext>
            </a:extLst>
          </p:cNvPr>
          <p:cNvSpPr txBox="1"/>
          <p:nvPr/>
        </p:nvSpPr>
        <p:spPr>
          <a:xfrm>
            <a:off x="1576277" y="458566"/>
            <a:ext cx="903944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spc="-8">
                <a:solidFill>
                  <a:srgbClr val="C00000"/>
                </a:solidFill>
                <a:latin typeface="Times New Roman Bold"/>
                <a:cs typeface="Times New Roman Bold"/>
                <a:sym typeface="Times New Roman Bold"/>
              </a:rPr>
              <a:t>Future Enhancements</a:t>
            </a:r>
          </a:p>
          <a:p>
            <a:pPr algn="ctr">
              <a:lnSpc>
                <a:spcPts val="4800"/>
              </a:lnSpc>
            </a:pPr>
            <a:endParaRPr lang="en-US" sz="4000" b="1" spc="-8">
              <a:solidFill>
                <a:srgbClr val="C00000"/>
              </a:solidFill>
              <a:latin typeface="Times New Roman Bold"/>
              <a:cs typeface="Times New Roman Bold"/>
            </a:endParaRPr>
          </a:p>
        </p:txBody>
      </p:sp>
    </p:spTree>
    <p:extLst>
      <p:ext uri="{BB962C8B-B14F-4D97-AF65-F5344CB8AC3E}">
        <p14:creationId xmlns:p14="http://schemas.microsoft.com/office/powerpoint/2010/main" val="203094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 descr="A close up of a message&#10;&#10;AI-generated content may be incorrect.">
            <a:extLst>
              <a:ext uri="{FF2B5EF4-FFF2-40B4-BE49-F238E27FC236}">
                <a16:creationId xmlns:a16="http://schemas.microsoft.com/office/drawing/2014/main" id="{DCF04D9A-1E5F-28D3-7AC6-34E6A2020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11" r="-82" b="63234"/>
          <a:stretch>
            <a:fillRect/>
          </a:stretch>
        </p:blipFill>
        <p:spPr>
          <a:xfrm>
            <a:off x="1074280" y="1329202"/>
            <a:ext cx="9664846" cy="1990741"/>
          </a:xfrm>
          <a:prstGeom prst="rect">
            <a:avLst/>
          </a:prstGeom>
          <a:solidFill>
            <a:srgbClr val="0E2446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452DA-C595-8542-9455-693489314D52}"/>
              </a:ext>
            </a:extLst>
          </p:cNvPr>
          <p:cNvSpPr txBox="1"/>
          <p:nvPr/>
        </p:nvSpPr>
        <p:spPr>
          <a:xfrm>
            <a:off x="4429387" y="4005679"/>
            <a:ext cx="3254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E2446"/>
                </a:solidFill>
                <a:cs typeface="Times New Roman" panose="02020603050405020304" pitchFamily="18" charset="0"/>
              </a:rPr>
              <a:t>Any Questions?</a:t>
            </a:r>
            <a:endParaRPr lang="en-IN" sz="3600" b="1" dirty="0">
              <a:solidFill>
                <a:srgbClr val="0E2446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5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373</Words>
  <Application>Microsoft Office PowerPoint</Application>
  <PresentationFormat>Widescreen</PresentationFormat>
  <Paragraphs>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l Gaikwad</dc:creator>
  <cp:lastModifiedBy>VARUN D MAGAR</cp:lastModifiedBy>
  <cp:revision>16</cp:revision>
  <dcterms:created xsi:type="dcterms:W3CDTF">2026-05-12T14:40:14Z</dcterms:created>
  <dcterms:modified xsi:type="dcterms:W3CDTF">2026-05-13T10:39:01Z</dcterms:modified>
</cp:coreProperties>
</file>